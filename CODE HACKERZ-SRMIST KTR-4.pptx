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7" r:id="rId5"/>
    <p:sldId id="268" r:id="rId6"/>
    <p:sldId id="272" r:id="rId7"/>
    <p:sldId id="273" r:id="rId8"/>
    <p:sldId id="274" r:id="rId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74" d="100"/>
          <a:sy n="74" d="100"/>
        </p:scale>
        <p:origin x="376" y="5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8/17/2025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8/17/2025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8/17/2025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8/17/2025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8/17/2025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8/17/2025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8/17/2025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8/17/2025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8/17/2025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8/17/2025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8/17/2025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8/17/2025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8/17/2025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8/17/2025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3413" y="404664"/>
            <a:ext cx="8735325" cy="2000251"/>
          </a:xfrm>
        </p:spPr>
        <p:txBody>
          <a:bodyPr>
            <a:normAutofit/>
          </a:bodyPr>
          <a:lstStyle/>
          <a:p>
            <a:pPr algn="ctr"/>
            <a:r>
              <a:rPr lang="en-US" sz="5500" b="1" u="sng" dirty="0"/>
              <a:t>REAL TIME FRAUD DETECTION SYSTEM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633412" y="2708920"/>
            <a:ext cx="8735325" cy="3312368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200" b="1" u="sng" dirty="0"/>
              <a:t>Team</a:t>
            </a:r>
            <a:r>
              <a:rPr lang="en-US" sz="3200" b="1" dirty="0"/>
              <a:t> : code hackerz </a:t>
            </a:r>
          </a:p>
          <a:p>
            <a:endParaRPr lang="en-US" sz="3000" b="1" dirty="0"/>
          </a:p>
          <a:p>
            <a:r>
              <a:rPr lang="en-US" sz="2500" b="1" u="sng" dirty="0"/>
              <a:t>MEMBERS</a:t>
            </a:r>
            <a:r>
              <a:rPr lang="en-US" sz="2500" b="1" dirty="0"/>
              <a:t>: ARUSHI JAIN, JASMITHA LOKESH, GNANA PRASUNA M</a:t>
            </a:r>
            <a:br>
              <a:rPr lang="en-US" sz="2500" b="1" dirty="0"/>
            </a:br>
            <a:endParaRPr lang="en-US" sz="2500" b="1" dirty="0"/>
          </a:p>
          <a:p>
            <a:r>
              <a:rPr lang="en-US" sz="2500" b="1" u="sng" dirty="0"/>
              <a:t>COLLEGE</a:t>
            </a:r>
            <a:r>
              <a:rPr lang="en-US" sz="2500" b="1" dirty="0"/>
              <a:t>: SRM INSTITUTE OF SCIENCE &amp; TECNOLOGY, KATTANKULATHUR, CHENNAI</a:t>
            </a:r>
          </a:p>
          <a:p>
            <a:endParaRPr lang="en-US" sz="2500" b="1" dirty="0"/>
          </a:p>
          <a:p>
            <a:r>
              <a:rPr lang="en-US" sz="2500" b="1" u="sng" dirty="0"/>
              <a:t>THEME</a:t>
            </a:r>
            <a:r>
              <a:rPr lang="en-US" sz="2500" b="1" dirty="0"/>
              <a:t>: 4. AI FOR CORE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09836" y="332656"/>
            <a:ext cx="4392488" cy="122396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accent1"/>
                </a:solidFill>
              </a:rPr>
              <a:t>PROBLEM STATEMENT 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981844" y="1586899"/>
            <a:ext cx="4248472" cy="44622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US" dirty="0"/>
              <a:t>An increasing number of online financial frauds </a:t>
            </a:r>
          </a:p>
          <a:p>
            <a:r>
              <a:rPr lang="en-US" dirty="0"/>
              <a:t>Traditional fraud detection → delayed &amp; reactive </a:t>
            </a:r>
          </a:p>
          <a:p>
            <a:r>
              <a:rPr lang="en-US" dirty="0"/>
              <a:t>Financial losses + reduced customer trust </a:t>
            </a:r>
          </a:p>
          <a:p>
            <a:r>
              <a:rPr lang="en-US" dirty="0"/>
              <a:t>Need for real-time, scalable, accurate detection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688373-7E33-4468-BD76-CAED2AEC06DC}"/>
              </a:ext>
            </a:extLst>
          </p:cNvPr>
          <p:cNvSpPr txBox="1"/>
          <p:nvPr/>
        </p:nvSpPr>
        <p:spPr>
          <a:xfrm>
            <a:off x="7750597" y="974190"/>
            <a:ext cx="23762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chemeClr val="accent1"/>
                </a:solidFill>
                <a:latin typeface="+mj-lt"/>
              </a:rPr>
              <a:t>OBJECTIVES</a:t>
            </a:r>
            <a:r>
              <a:rPr lang="en-US" sz="3200" b="1" dirty="0">
                <a:solidFill>
                  <a:schemeClr val="accent1"/>
                </a:solidFill>
                <a:latin typeface="+mj-lt"/>
              </a:rPr>
              <a:t> </a:t>
            </a:r>
            <a:endParaRPr lang="en-IN" sz="32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E549CD-089A-1103-96EB-7D2AEA97B57D}"/>
              </a:ext>
            </a:extLst>
          </p:cNvPr>
          <p:cNvSpPr txBox="1"/>
          <p:nvPr/>
        </p:nvSpPr>
        <p:spPr>
          <a:xfrm>
            <a:off x="6742484" y="1772816"/>
            <a:ext cx="424847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IN" dirty="0"/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600" dirty="0"/>
              <a:t>Detect fraudulent transactions instantly 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600" dirty="0"/>
              <a:t>Reduce false positives &amp; negatives 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600" dirty="0"/>
              <a:t>Ensure system scalability for high transaction volume 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600" dirty="0"/>
              <a:t>Protect customers &amp; improve trust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03A2B-2473-ED40-273C-F0E35FB39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0323721-CA09-FB49-1B82-E3CEC85A1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36" y="332656"/>
            <a:ext cx="4392488" cy="122396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accent1"/>
                </a:solidFill>
              </a:rPr>
              <a:t>EXISTING SOLUTION &amp; LIMITATIONS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C4E0264-468B-1FC2-4FC1-DDE74278E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4" y="1586899"/>
            <a:ext cx="4320480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</a:t>
            </a:r>
          </a:p>
          <a:p>
            <a:r>
              <a:rPr lang="en-US" dirty="0"/>
              <a:t>Rule-based systems: easy to bypass </a:t>
            </a:r>
          </a:p>
          <a:p>
            <a:r>
              <a:rPr lang="en-US" dirty="0"/>
              <a:t>Post-event fraud detection: too late </a:t>
            </a:r>
          </a:p>
          <a:p>
            <a:r>
              <a:rPr lang="en-US" dirty="0"/>
              <a:t>Lack of adaptability to new fraud patterns </a:t>
            </a:r>
          </a:p>
          <a:p>
            <a:r>
              <a:rPr lang="en-US" dirty="0"/>
              <a:t>High false alarms affect genuine users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88ACC7-1D6B-76D7-0AC8-EB0B4D56A4F2}"/>
              </a:ext>
            </a:extLst>
          </p:cNvPr>
          <p:cNvSpPr txBox="1"/>
          <p:nvPr/>
        </p:nvSpPr>
        <p:spPr>
          <a:xfrm>
            <a:off x="6886502" y="836712"/>
            <a:ext cx="43924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chemeClr val="accent1"/>
                </a:solidFill>
                <a:latin typeface="+mj-lt"/>
              </a:rPr>
              <a:t>PROPOSED SOLUTIONS </a:t>
            </a:r>
            <a:endParaRPr lang="en-IN" sz="3200" u="sng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7EA23-07D1-C18A-C493-9FC99B6CEB81}"/>
              </a:ext>
            </a:extLst>
          </p:cNvPr>
          <p:cNvSpPr txBox="1"/>
          <p:nvPr/>
        </p:nvSpPr>
        <p:spPr>
          <a:xfrm>
            <a:off x="6595328" y="1586899"/>
            <a:ext cx="504056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AI/ML-powered fraud detection engine 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800" dirty="0"/>
              <a:t>Real-time monitoring of transactions 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Adaptive learning models (detect new fraud strategies) 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Seamless integration with existing banking/payment systems </a:t>
            </a:r>
          </a:p>
          <a:p>
            <a:pPr>
              <a:buClr>
                <a:schemeClr val="accent1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780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E961D-00E6-1AF4-E43D-D6DC3FBD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7EE2A8B-4395-8D3E-7138-84647DD64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36" y="332656"/>
            <a:ext cx="4392488" cy="122396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accent1"/>
                </a:solidFill>
              </a:rPr>
              <a:t>MODEL ARCHITECTURE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55871F0-C234-B2CD-DCE5-E7E8DA5DC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3" y="1586898"/>
            <a:ext cx="4611653" cy="479442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 </a:t>
            </a:r>
          </a:p>
          <a:p>
            <a:r>
              <a:rPr lang="en-IN" sz="3600" dirty="0"/>
              <a:t>Data Ingestion: Transaction details (amount, location, device, time) </a:t>
            </a:r>
          </a:p>
          <a:p>
            <a:r>
              <a:rPr lang="en-US" sz="3600" dirty="0"/>
              <a:t>Feature Engineering: Behavioural &amp; historical data </a:t>
            </a:r>
          </a:p>
          <a:p>
            <a:r>
              <a:rPr lang="en-US" sz="3600" dirty="0"/>
              <a:t>Machine Learning Model: Supervised + unsupervised learning </a:t>
            </a:r>
          </a:p>
          <a:p>
            <a:r>
              <a:rPr lang="en-US" sz="3600" dirty="0"/>
              <a:t>Real-Time Scoring: Predict fraud likelihood </a:t>
            </a:r>
          </a:p>
          <a:p>
            <a:r>
              <a:rPr lang="en-US" sz="3600" dirty="0"/>
              <a:t>Alert System: Notify banks/customers instantly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857D8F-240E-55C7-B3E6-EE734EF603AE}"/>
              </a:ext>
            </a:extLst>
          </p:cNvPr>
          <p:cNvSpPr txBox="1"/>
          <p:nvPr/>
        </p:nvSpPr>
        <p:spPr>
          <a:xfrm>
            <a:off x="7246540" y="937288"/>
            <a:ext cx="38164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chemeClr val="accent1"/>
                </a:solidFill>
                <a:latin typeface="+mj-lt"/>
              </a:rPr>
              <a:t>TECHNOLOGY STACK </a:t>
            </a:r>
            <a:endParaRPr lang="en-IN" sz="3200" u="sng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81751-1F51-1C65-26E0-CC8EE3AC5ACF}"/>
              </a:ext>
            </a:extLst>
          </p:cNvPr>
          <p:cNvSpPr txBox="1"/>
          <p:nvPr/>
        </p:nvSpPr>
        <p:spPr>
          <a:xfrm>
            <a:off x="6382444" y="1586898"/>
            <a:ext cx="5256584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600" dirty="0"/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600" dirty="0"/>
              <a:t>Backend &amp; Logic - Python (Flask / FastAPI) → for handling transaction requests &amp; running fraud detection logic. 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600" dirty="0"/>
              <a:t>Machine Learning Model - Pandas + NumPy → for data handling, Joblib → to save &amp; load ML model 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600" dirty="0"/>
              <a:t>Database - SQLite 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600" dirty="0"/>
              <a:t>Frontend / Dashboard - HTML + CSS + JavaScript </a:t>
            </a:r>
          </a:p>
        </p:txBody>
      </p:sp>
    </p:spTree>
    <p:extLst>
      <p:ext uri="{BB962C8B-B14F-4D97-AF65-F5344CB8AC3E}">
        <p14:creationId xmlns:p14="http://schemas.microsoft.com/office/powerpoint/2010/main" val="2182933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9AA34-7BCD-5EB1-8EEB-9A268D27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B5D9415-0FD2-FB00-8782-CC11E8E69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8257" y="188640"/>
            <a:ext cx="2772308" cy="1223963"/>
          </a:xfrm>
        </p:spPr>
        <p:txBody>
          <a:bodyPr>
            <a:normAutofit/>
          </a:bodyPr>
          <a:lstStyle/>
          <a:p>
            <a:pPr algn="ctr"/>
            <a:r>
              <a:rPr lang="en-US" sz="3500" b="1" u="sng" dirty="0">
                <a:solidFill>
                  <a:schemeClr val="accent1"/>
                </a:solidFill>
              </a:rPr>
              <a:t>IMPACT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2882FD6-DB8C-2CE4-7939-A1FDF8F03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584" y="1445516"/>
            <a:ext cx="4611653" cy="47944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</a:t>
            </a:r>
          </a:p>
          <a:p>
            <a:r>
              <a:rPr lang="en-IN" dirty="0"/>
              <a:t>Reduce fraud losses significantly </a:t>
            </a:r>
          </a:p>
          <a:p>
            <a:r>
              <a:rPr lang="en-IN" dirty="0"/>
              <a:t>Increase customer trust &amp; satisfaction </a:t>
            </a:r>
          </a:p>
          <a:p>
            <a:r>
              <a:rPr lang="en-IN" dirty="0"/>
              <a:t>Strengthen financial ecosystem security </a:t>
            </a:r>
          </a:p>
          <a:p>
            <a:r>
              <a:rPr lang="en-US" dirty="0"/>
              <a:t>Scalable solution for banks, fin-techs, and e-commerce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954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37</TotalTime>
  <Words>277</Words>
  <Application>Microsoft Office PowerPoint</Application>
  <PresentationFormat>Custom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Tech 16x9</vt:lpstr>
      <vt:lpstr>REAL TIME FRAUD DETECTION SYSTEM</vt:lpstr>
      <vt:lpstr>PROBLEM STATEMENT </vt:lpstr>
      <vt:lpstr>EXISTING SOLUTION &amp; LIMITATIONS</vt:lpstr>
      <vt:lpstr>MODEL ARCHITECTURE</vt:lpstr>
      <vt:lpstr>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Jasmitha Lokesh</dc:creator>
  <cp:lastModifiedBy>Jasmitha Lokesh</cp:lastModifiedBy>
  <cp:revision>30</cp:revision>
  <dcterms:created xsi:type="dcterms:W3CDTF">2025-08-17T05:34:15Z</dcterms:created>
  <dcterms:modified xsi:type="dcterms:W3CDTF">2025-08-17T06:11:21Z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